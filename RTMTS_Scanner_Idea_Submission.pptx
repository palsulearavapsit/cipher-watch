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8" r:id="rId2"/>
    <p:sldId id="281" r:id="rId3"/>
    <p:sldId id="290" r:id="rId4"/>
    <p:sldId id="293" r:id="rId5"/>
    <p:sldId id="294" r:id="rId6"/>
    <p:sldId id="296" r:id="rId7"/>
  </p:sldIdLst>
  <p:sldSz cx="12192000" cy="6858000"/>
  <p:notesSz cx="7010400" cy="92964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CCFF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13" autoAdjust="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008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5/22/2026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064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064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064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defTabSz="465887">
              <a:defRPr/>
            </a:pPr>
            <a:fld id="{0CA7B74D-3791-4AC6-8451-F10DBCCCDD9A}" type="slidenum">
              <a:rPr lang="en-US">
                <a:solidFill>
                  <a:prstClr val="black"/>
                </a:solidFill>
              </a:rPr>
              <a:pPr defTabSz="465887">
                <a:defRPr/>
              </a:pPr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064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defTabSz="465887">
              <a:defRPr/>
            </a:pPr>
            <a:fld id="{0CA7B74D-3791-4AC6-8451-F10DBCCCDD9A}" type="slidenum">
              <a:rPr lang="en-US">
                <a:solidFill>
                  <a:prstClr val="black"/>
                </a:solidFill>
              </a:rPr>
              <a:pPr defTabSz="465887">
                <a:defRPr/>
              </a:pPr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064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defTabSz="465887">
              <a:defRPr/>
            </a:pPr>
            <a:fld id="{0CA7B74D-3791-4AC6-8451-F10DBCCCDD9A}" type="slidenum">
              <a:rPr lang="en-US">
                <a:solidFill>
                  <a:prstClr val="black"/>
                </a:solidFill>
              </a:rPr>
              <a:pPr defTabSz="465887">
                <a:defRPr/>
              </a:pPr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064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defTabSz="465887">
              <a:defRPr/>
            </a:pPr>
            <a:fld id="{0CA7B74D-3791-4AC6-8451-F10DBCCCDD9A}" type="slidenum">
              <a:rPr lang="en-US">
                <a:solidFill>
                  <a:prstClr val="black"/>
                </a:solidFill>
              </a:rPr>
              <a:pPr defTabSz="465887">
                <a:defRPr/>
              </a:pPr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DA1ED8E-AC55-4B4E-9CC7-78DC6D689357}" type="datetime1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84DBB8-A4DE-461B-94B8-615F91BAA827}" type="datetime1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ECB683-4922-D556-4A86-50742BCEC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C74B97-86E1-6427-690B-4DEFC60B5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1BA53-830D-4830-BB65-E58DBE17D0B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9114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A652D94-93F4-40A0-A26F-E9339256BCDC}" type="datetime1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83AF853-CA5D-49CE-8306-5FF4F9CF3EA9}" type="datetime1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B0459D5-72A5-45C4-B16A-D14299DDD578}" type="datetime1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3CBC97C-F471-4420-A42B-A46F686811FA}" type="datetime1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B53512D-D909-4AE0-9AB0-7D2DC5C52581}" type="datetime1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0D1FAD0-6C25-4B8B-89A5-E66A843CD8CF}" type="datetime1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F4C1BB0-3D5C-4E9C-9029-F00452C56F2B}" type="datetime1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EF5D4A-3B8A-4F73-B4D0-567E8A0E3EF9}" type="datetime1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22BEE9E-DEC9-4ACF-AAAA-45C205EB7BF6}" type="datetime1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3FD00B4C-429A-4716-95AB-FD28B9D579F9}" type="datetime1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0A3E502-3AE1-9DA8-F152-54469B5738E1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7254241" y="-234"/>
            <a:ext cx="4937759" cy="10817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sv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5.jpg"/><Relationship Id="rId8" Type="http://schemas.openxmlformats.org/officeDocument/2006/relationships/image" Target="../media/image6.jpg"/><Relationship Id="rId9" Type="http://schemas.openxmlformats.org/officeDocument/2006/relationships/image" Target="../media/image7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sv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sv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sv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sv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789BB7C-1701-4B66-5939-CB68531A283E}"/>
              </a:ext>
            </a:extLst>
          </p:cNvPr>
          <p:cNvSpPr txBox="1"/>
          <p:nvPr/>
        </p:nvSpPr>
        <p:spPr>
          <a:xfrm>
            <a:off x="557631" y="1743021"/>
            <a:ext cx="43801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>
                <a:solidFill>
                  <a:srgbClr val="0E2233"/>
                </a:solidFill>
                <a:latin typeface="Calibri"/>
              </a:rPr>
              <a:t>IDEA SUBMISSION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B0B01F-242C-918F-35F7-9FFBFD5FF3EC}"/>
              </a:ext>
            </a:extLst>
          </p:cNvPr>
          <p:cNvSpPr txBox="1"/>
          <p:nvPr/>
        </p:nvSpPr>
        <p:spPr>
          <a:xfrm>
            <a:off x="640080" y="2286000"/>
            <a:ext cx="6400800" cy="246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400" b="1" i="0">
                <a:solidFill>
                  <a:srgbClr val="0E2233"/>
                </a:solidFill>
                <a:latin typeface="Calibri"/>
              </a:rPr>
              <a:t>Theme — </a:t>
            </a:r>
            <a:r>
              <a:rPr sz="1400" b="0" i="0">
                <a:solidFill>
                  <a:srgbClr val="6B7280"/>
                </a:solidFill>
                <a:latin typeface="Calibri"/>
              </a:rPr>
              <a:t>[ Fill from portal ]</a:t>
            </a:r>
            <a:endParaRPr lang="en-US" dirty="0"/>
          </a:p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400" b="1" i="0">
                <a:solidFill>
                  <a:srgbClr val="0E2233"/>
                </a:solidFill>
                <a:latin typeface="Calibri"/>
              </a:rPr>
              <a:t>Problem Statement ID — </a:t>
            </a:r>
            <a:r>
              <a:rPr sz="1400" b="0" i="0">
                <a:solidFill>
                  <a:srgbClr val="6B7280"/>
                </a:solidFill>
                <a:latin typeface="Calibri"/>
              </a:rPr>
              <a:t>[ Fill from portal ]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400" b="1" i="0">
                <a:solidFill>
                  <a:srgbClr val="0E2233"/>
                </a:solidFill>
                <a:latin typeface="Calibri"/>
              </a:rPr>
              <a:t>Problem Statement Category — </a:t>
            </a:r>
            <a:r>
              <a:rPr sz="1400" b="0" i="0">
                <a:solidFill>
                  <a:srgbClr val="6B7280"/>
                </a:solidFill>
                <a:latin typeface="Calibri"/>
              </a:rPr>
              <a:t>[ Fill from portal ]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400" b="1" i="0">
                <a:solidFill>
                  <a:srgbClr val="0E2233"/>
                </a:solidFill>
                <a:latin typeface="Calibri"/>
              </a:rPr>
              <a:t>Team ID — </a:t>
            </a:r>
            <a:r>
              <a:rPr sz="1400" b="0" i="0">
                <a:solidFill>
                  <a:srgbClr val="6B7280"/>
                </a:solidFill>
                <a:latin typeface="Calibri"/>
              </a:rPr>
              <a:t>[ Fill from portal ]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400" b="1" i="0">
                <a:solidFill>
                  <a:srgbClr val="0E2233"/>
                </a:solidFill>
                <a:latin typeface="Calibri"/>
              </a:rPr>
              <a:t>Team Name (Registered on portal) — </a:t>
            </a:r>
            <a:r>
              <a:rPr sz="1400" b="0" i="0">
                <a:solidFill>
                  <a:srgbClr val="6B7280"/>
                </a:solidFill>
                <a:latin typeface="Calibri"/>
              </a:rPr>
              <a:t>[ Fill from portal ]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2" name="AutoShape 2" descr="Generated image: OSF-Hackathon tech event banner">
            <a:extLst>
              <a:ext uri="{FF2B5EF4-FFF2-40B4-BE49-F238E27FC236}">
                <a16:creationId xmlns:a16="http://schemas.microsoft.com/office/drawing/2014/main" id="{078873FE-9F70-A8A3-E16A-7476CE93DD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CD67734-0A39-E4CB-4E46-0BD76176D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481" y="66265"/>
            <a:ext cx="4015494" cy="80423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F4B6317-43D1-A931-BF04-60615D02E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4567" y="36752"/>
            <a:ext cx="4587433" cy="100774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CE7FB71-18AF-41A2-B264-6B4FB834DF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9216" y="66265"/>
            <a:ext cx="4937759" cy="108171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0080" y="4800600"/>
            <a:ext cx="10881360" cy="1463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4000" b="1" i="0">
                <a:solidFill>
                  <a:srgbClr val="0E7490"/>
                </a:solidFill>
                <a:latin typeface="Calibri"/>
              </a:rPr>
              <a:t>RTMTS Scanner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500" b="1" i="0">
                <a:solidFill>
                  <a:srgbClr val="1F2937"/>
                </a:solidFill>
                <a:latin typeface="Calibri"/>
              </a:rPr>
              <a:t>Real-Time Threat Monitoring System  ·  powered by the SentinelAI engine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400" b="0" i="1">
                <a:solidFill>
                  <a:srgbClr val="6B7280"/>
                </a:solidFill>
                <a:latin typeface="Calibri"/>
              </a:rPr>
              <a:t>Detects the threat. Scores the risk. Explains itself — in real time.</a:t>
            </a:r>
          </a:p>
        </p:txBody>
      </p:sp>
    </p:spTree>
    <p:extLst>
      <p:ext uri="{BB962C8B-B14F-4D97-AF65-F5344CB8AC3E}">
        <p14:creationId xmlns:p14="http://schemas.microsoft.com/office/powerpoint/2010/main" val="1516398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502920" y="868680"/>
            <a:ext cx="8229600" cy="1143000"/>
          </a:xfrm>
        </p:spPr>
        <p:txBody>
          <a:bodyPr wrap="square"/>
          <a:lstStyle/>
          <a:p>
            <a:pPr eaLnBrk="1" hangingPunct="1" algn="l"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>
                <a:solidFill>
                  <a:srgbClr val="0E2233"/>
                </a:solidFill>
                <a:latin typeface="Calibri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365760" y="1993392"/>
            <a:ext cx="690372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  <a:buNone/>
            </a:pPr>
            <a:r>
              <a:rPr sz="1500" b="1" i="0">
                <a:solidFill>
                  <a:srgbClr val="0E2233"/>
                </a:solidFill>
                <a:latin typeface="Calibri"/>
              </a:rPr>
              <a:t>RTMTS Scanner — a real-time, source-agnostic threat-detection platform that explains every alert.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sz="1200" b="1" i="0">
                <a:solidFill>
                  <a:srgbClr val="0E7490"/>
                </a:solidFill>
                <a:latin typeface="Calibri"/>
              </a:rPr>
              <a:t>WHAT IT IS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None/>
            </a:pPr>
            <a:r>
              <a:rPr sz="1150" b="0" i="0">
                <a:solidFill>
                  <a:srgbClr val="1F2937"/>
                </a:solidFill>
                <a:latin typeface="Calibri"/>
              </a:rPr>
              <a:t>One engine watches every activity stream — payments, logins, database queries, blockchain wallets. It learns each entity's normal behavior and flags deviations in real time with a 0–100 risk score and a plain-English reason. A working prototype — 63 backend tests passing.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sz="1200" b="1" i="0">
                <a:solidFill>
                  <a:srgbClr val="0E7490"/>
                </a:solidFill>
                <a:latin typeface="Calibri"/>
              </a:rPr>
              <a:t>HOW IT SOLVES THE PROBLEM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None/>
            </a:pPr>
            <a:r>
              <a:rPr sz="1150" b="0" i="0">
                <a:solidFill>
                  <a:srgbClr val="1F2937"/>
                </a:solidFill>
                <a:latin typeface="Calibri"/>
              </a:rPr>
              <a:t>Legacy tools fire static-threshold alerts and dump raw rows with no context, so analysts drown in noise and catch attacks too late. We use per-entity behavioral baselines (catching novel attacks) and pre-explain every alert — triage drops from minutes to seconds.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sz="1200" b="1" i="0">
                <a:solidFill>
                  <a:srgbClr val="0E7490"/>
                </a:solidFill>
                <a:latin typeface="Calibri"/>
              </a:rPr>
              <a:t>WHAT MAKES IT NOVEL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150" b="0" i="0">
                <a:solidFill>
                  <a:srgbClr val="1F2937"/>
                </a:solidFill>
                <a:latin typeface="Calibri"/>
              </a:rPr>
              <a:t>•  Source-agnostic — a new data source = one small adapter file. A platform, not a dashboard.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150" b="0" i="0">
                <a:solidFill>
                  <a:srgbClr val="1F2937"/>
                </a:solidFill>
                <a:latin typeface="Calibri"/>
              </a:rPr>
              <a:t>•  Explainable by default — Gemini turns an anomaly into one human sentence (cached, offline-safe).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150" b="0" i="0">
                <a:solidFill>
                  <a:srgbClr val="1F2937"/>
                </a:solidFill>
                <a:latin typeface="Calibri"/>
              </a:rPr>
              <a:t>•  Two-layer detection — statistical spike + ML drift fused into one intuitive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3600505-8758-5AE6-F4E0-74C95DA20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451" y="36752"/>
            <a:ext cx="3985549" cy="8755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C104916-BAC8-90A0-6731-04B4C6FC71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4241" y="-234"/>
            <a:ext cx="4937759" cy="1081711"/>
          </a:xfrm>
          <a:prstGeom prst="rect">
            <a:avLst/>
          </a:prstGeom>
        </p:spPr>
      </p:pic>
      <p:sp>
        <p:nvSpPr>
          <p:cNvPr id="15363" name="Rounded Rectangle 15362"/>
          <p:cNvSpPr/>
          <p:nvPr/>
        </p:nvSpPr>
        <p:spPr>
          <a:xfrm>
            <a:off x="411480" y="5806440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Bef>
                <a:spcPts val="0"/>
              </a:spcBef>
              <a:spcAft>
                <a:spcPts val="600"/>
              </a:spcAft>
              <a:buNone/>
            </a:pPr>
            <a:r>
              <a:rPr sz="1100" b="1" i="0">
                <a:solidFill>
                  <a:srgbClr val="0E5A6B"/>
                </a:solidFill>
                <a:latin typeface="Calibri"/>
              </a:rPr>
              <a:t>63 tests passing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2724912" y="5806440"/>
            <a:ext cx="2240280" cy="365760"/>
          </a:xfrm>
          <a:prstGeom prst="roundRect">
            <a:avLst>
              <a:gd name="adj" fmla="val 50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Bef>
                <a:spcPts val="0"/>
              </a:spcBef>
              <a:spcAft>
                <a:spcPts val="600"/>
              </a:spcAft>
              <a:buNone/>
            </a:pPr>
            <a:r>
              <a:rPr sz="1100" b="1" i="0">
                <a:solidFill>
                  <a:srgbClr val="0E5A6B"/>
                </a:solidFill>
                <a:latin typeface="Calibri"/>
              </a:rPr>
              <a:t>Offline-safe demo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5129784" y="580644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Bef>
                <a:spcPts val="0"/>
              </a:spcBef>
              <a:spcAft>
                <a:spcPts val="600"/>
              </a:spcAft>
              <a:buNone/>
            </a:pPr>
            <a:r>
              <a:rPr sz="1100" b="1" i="0">
                <a:solidFill>
                  <a:srgbClr val="0E5A6B"/>
                </a:solidFill>
                <a:latin typeface="Calibri"/>
              </a:rPr>
              <a:t>Source-agnostic core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7360920" y="2286000"/>
            <a:ext cx="4681728" cy="2788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67" name="Picture 15366" descr="WhatsApp Image 2026-06-23 at 8.23.19 PM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9792" y="2404872"/>
            <a:ext cx="4443984" cy="2377531"/>
          </a:xfrm>
          <a:prstGeom prst="rect">
            <a:avLst/>
          </a:prstGeom>
        </p:spPr>
      </p:pic>
      <p:sp>
        <p:nvSpPr>
          <p:cNvPr id="15368" name="TextBox 15367"/>
          <p:cNvSpPr txBox="1"/>
          <p:nvPr/>
        </p:nvSpPr>
        <p:spPr>
          <a:xfrm>
            <a:off x="7360920" y="5138928"/>
            <a:ext cx="4681728" cy="11887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buNone/>
            </a:pPr>
            <a:r>
              <a:rPr sz="1100" b="1" i="0">
                <a:solidFill>
                  <a:srgbClr val="0E7490"/>
                </a:solidFill>
                <a:latin typeface="Calibri"/>
              </a:rPr>
              <a:t>LIVE SOC DASHBOARD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00" b="0" i="1">
                <a:solidFill>
                  <a:srgbClr val="6B7280"/>
                </a:solidFill>
                <a:latin typeface="Calibri"/>
              </a:rPr>
              <a:t>Press “inject attack” → within ~1–2s the entity is flagged, scored, and explained — every run, offline-safe.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02920" y="868680"/>
            <a:ext cx="8229600" cy="1143000"/>
          </a:xfrm>
        </p:spPr>
        <p:txBody>
          <a:bodyPr wrap="square"/>
          <a:lstStyle/>
          <a:p>
            <a:pPr eaLnBrk="1" hangingPunct="1" algn="l"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>
                <a:solidFill>
                  <a:srgbClr val="0E2233"/>
                </a:solidFill>
                <a:latin typeface="Calibri"/>
              </a:rPr>
              <a:t>SOLUTION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627632"/>
            <a:ext cx="1115568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l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sz="1200" b="1" i="0">
                <a:solidFill>
                  <a:srgbClr val="0E7490"/>
                </a:solidFill>
                <a:latin typeface="Calibri"/>
              </a:rPr>
              <a:t>TECHNOLOGY STACK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289B050-2043-AC61-B89A-ED0C66A130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82818" y="350906"/>
            <a:ext cx="3530991" cy="608634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8CD201-869C-D225-F156-EAE5B41AEB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9264" y="258741"/>
            <a:ext cx="3873910" cy="7758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896D950-E63C-CCD5-4FB5-9EDB5A2D6B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9503" y="36751"/>
            <a:ext cx="4542497" cy="9978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80C4E7-3FC6-7306-D3D5-6BECFCD91F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4241" y="-234"/>
            <a:ext cx="4937759" cy="1081711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502920" y="1975104"/>
            <a:ext cx="2240280" cy="310896"/>
          </a:xfrm>
          <a:prstGeom prst="roundRect">
            <a:avLst>
              <a:gd name="adj" fmla="val 50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Bef>
                <a:spcPts val="0"/>
              </a:spcBef>
              <a:spcAft>
                <a:spcPts val="600"/>
              </a:spcAft>
              <a:buNone/>
            </a:pPr>
            <a:r>
              <a:rPr sz="1050" b="1" i="0">
                <a:solidFill>
                  <a:srgbClr val="0E5A6B"/>
                </a:solidFill>
                <a:latin typeface="Calibri"/>
              </a:rPr>
              <a:t>React · Tailwind · Recharts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2889504" y="1975104"/>
            <a:ext cx="2423160" cy="310896"/>
          </a:xfrm>
          <a:prstGeom prst="roundRect">
            <a:avLst>
              <a:gd name="adj" fmla="val 50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Bef>
                <a:spcPts val="0"/>
              </a:spcBef>
              <a:spcAft>
                <a:spcPts val="600"/>
              </a:spcAft>
              <a:buNone/>
            </a:pPr>
            <a:r>
              <a:rPr sz="1050" b="1" i="0">
                <a:solidFill>
                  <a:srgbClr val="0E5A6B"/>
                </a:solidFill>
                <a:latin typeface="Calibri"/>
              </a:rPr>
              <a:t>FastAPI · WebSockets · Python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458968" y="1975104"/>
            <a:ext cx="2331720" cy="310896"/>
          </a:xfrm>
          <a:prstGeom prst="roundRect">
            <a:avLst>
              <a:gd name="adj" fmla="val 50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Bef>
                <a:spcPts val="0"/>
              </a:spcBef>
              <a:spcAft>
                <a:spcPts val="600"/>
              </a:spcAft>
              <a:buNone/>
            </a:pPr>
            <a:r>
              <a:rPr sz="1050" b="1" i="0">
                <a:solidFill>
                  <a:srgbClr val="0E5A6B"/>
                </a:solidFill>
                <a:latin typeface="Calibri"/>
              </a:rPr>
              <a:t>scikit-learn IsolationForest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7936992" y="1975104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Bef>
                <a:spcPts val="0"/>
              </a:spcBef>
              <a:spcAft>
                <a:spcPts val="600"/>
              </a:spcAft>
              <a:buNone/>
            </a:pPr>
            <a:r>
              <a:rPr sz="1050" b="1" i="0">
                <a:solidFill>
                  <a:srgbClr val="0E5A6B"/>
                </a:solidFill>
                <a:latin typeface="Calibri"/>
              </a:rPr>
              <a:t>Google Gemini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9454896" y="1975104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Bef>
                <a:spcPts val="0"/>
              </a:spcBef>
              <a:spcAft>
                <a:spcPts val="600"/>
              </a:spcAft>
              <a:buNone/>
            </a:pPr>
            <a:r>
              <a:rPr sz="1050" b="1" i="0">
                <a:solidFill>
                  <a:srgbClr val="0E5A6B"/>
                </a:solidFill>
                <a:latin typeface="Calibri"/>
              </a:rPr>
              <a:t>Etherscan / Alchemy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502920" y="2395728"/>
            <a:ext cx="54864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0E7490"/>
                </a:solidFill>
                <a:latin typeface="Calibri"/>
              </a:rPr>
              <a:t>DETECTION PIPELINE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525780" y="2706624"/>
            <a:ext cx="1627632" cy="658368"/>
          </a:xfrm>
          <a:prstGeom prst="roundRect">
            <a:avLst>
              <a:gd name="adj" fmla="val 12000"/>
            </a:avLst>
          </a:prstGeom>
          <a:solidFill>
            <a:srgbClr val="E6F6F9"/>
          </a:solidFill>
          <a:ln w="1270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0E7490"/>
                </a:solidFill>
                <a:latin typeface="Calibri"/>
              </a:rPr>
              <a:t>1  Ingest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buNone/>
            </a:pPr>
            <a:r>
              <a:rPr sz="950" b="0" i="0">
                <a:solidFill>
                  <a:srgbClr val="6B7280"/>
                </a:solidFill>
                <a:latin typeface="Calibri"/>
              </a:rPr>
              <a:t>normalize</a:t>
            </a:r>
          </a:p>
        </p:txBody>
      </p:sp>
      <p:sp>
        <p:nvSpPr>
          <p:cNvPr id="17418" name="Right Arrow 17417"/>
          <p:cNvSpPr/>
          <p:nvPr/>
        </p:nvSpPr>
        <p:spPr>
          <a:xfrm>
            <a:off x="2171700" y="2953512"/>
            <a:ext cx="256032" cy="164592"/>
          </a:xfrm>
          <a:prstGeom prst="rightArrow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2427732" y="2706624"/>
            <a:ext cx="1627632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0E7490"/>
                </a:solidFill>
                <a:latin typeface="Calibri"/>
              </a:rPr>
              <a:t>2  Baseline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buNone/>
            </a:pPr>
            <a:r>
              <a:rPr sz="950" b="0" i="0">
                <a:solidFill>
                  <a:srgbClr val="6B7280"/>
                </a:solidFill>
                <a:latin typeface="Calibri"/>
              </a:rPr>
              <a:t>per-entity</a:t>
            </a:r>
          </a:p>
        </p:txBody>
      </p:sp>
      <p:sp>
        <p:nvSpPr>
          <p:cNvPr id="17420" name="Right Arrow 17419"/>
          <p:cNvSpPr/>
          <p:nvPr/>
        </p:nvSpPr>
        <p:spPr>
          <a:xfrm>
            <a:off x="4073652" y="2953512"/>
            <a:ext cx="256032" cy="164592"/>
          </a:xfrm>
          <a:prstGeom prst="rightArrow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Rounded Rectangle 17420"/>
          <p:cNvSpPr/>
          <p:nvPr/>
        </p:nvSpPr>
        <p:spPr>
          <a:xfrm>
            <a:off x="4329684" y="2706624"/>
            <a:ext cx="1627632" cy="658368"/>
          </a:xfrm>
          <a:prstGeom prst="roundRect">
            <a:avLst>
              <a:gd name="adj" fmla="val 12000"/>
            </a:avLst>
          </a:prstGeom>
          <a:solidFill>
            <a:srgbClr val="E6F6F9"/>
          </a:solidFill>
          <a:ln w="1270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0E7490"/>
                </a:solidFill>
                <a:latin typeface="Calibri"/>
              </a:rPr>
              <a:t>3  Detect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buNone/>
            </a:pPr>
            <a:r>
              <a:rPr sz="950" b="0" i="0">
                <a:solidFill>
                  <a:srgbClr val="6B7280"/>
                </a:solidFill>
                <a:latin typeface="Calibri"/>
              </a:rPr>
              <a:t>stat + ML</a:t>
            </a:r>
          </a:p>
        </p:txBody>
      </p:sp>
      <p:sp>
        <p:nvSpPr>
          <p:cNvPr id="17422" name="Right Arrow 17421"/>
          <p:cNvSpPr/>
          <p:nvPr/>
        </p:nvSpPr>
        <p:spPr>
          <a:xfrm>
            <a:off x="5975604" y="2953512"/>
            <a:ext cx="256032" cy="164592"/>
          </a:xfrm>
          <a:prstGeom prst="rightArrow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Rounded Rectangle 17422"/>
          <p:cNvSpPr/>
          <p:nvPr/>
        </p:nvSpPr>
        <p:spPr>
          <a:xfrm>
            <a:off x="6231636" y="2706624"/>
            <a:ext cx="1627632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0E7490"/>
                </a:solidFill>
                <a:latin typeface="Calibri"/>
              </a:rPr>
              <a:t>4  Explain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buNone/>
            </a:pPr>
            <a:r>
              <a:rPr sz="950" b="0" i="0">
                <a:solidFill>
                  <a:srgbClr val="6B7280"/>
                </a:solidFill>
                <a:latin typeface="Calibri"/>
              </a:rPr>
              <a:t>Gemini</a:t>
            </a:r>
          </a:p>
        </p:txBody>
      </p:sp>
      <p:sp>
        <p:nvSpPr>
          <p:cNvPr id="17424" name="Right Arrow 17423"/>
          <p:cNvSpPr/>
          <p:nvPr/>
        </p:nvSpPr>
        <p:spPr>
          <a:xfrm>
            <a:off x="7877556" y="2953512"/>
            <a:ext cx="256032" cy="164592"/>
          </a:xfrm>
          <a:prstGeom prst="rightArrow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Rounded Rectangle 17424"/>
          <p:cNvSpPr/>
          <p:nvPr/>
        </p:nvSpPr>
        <p:spPr>
          <a:xfrm>
            <a:off x="8133588" y="2706624"/>
            <a:ext cx="1627632" cy="658368"/>
          </a:xfrm>
          <a:prstGeom prst="roundRect">
            <a:avLst>
              <a:gd name="adj" fmla="val 12000"/>
            </a:avLst>
          </a:prstGeom>
          <a:solidFill>
            <a:srgbClr val="E6F6F9"/>
          </a:solidFill>
          <a:ln w="1270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0E7490"/>
                </a:solidFill>
                <a:latin typeface="Calibri"/>
              </a:rPr>
              <a:t>5  Stream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buNone/>
            </a:pPr>
            <a:r>
              <a:rPr sz="950" b="0" i="0">
                <a:solidFill>
                  <a:srgbClr val="6B7280"/>
                </a:solidFill>
                <a:latin typeface="Calibri"/>
              </a:rPr>
              <a:t>WebSocket</a:t>
            </a:r>
          </a:p>
        </p:txBody>
      </p:sp>
      <p:sp>
        <p:nvSpPr>
          <p:cNvPr id="17426" name="Right Arrow 17425"/>
          <p:cNvSpPr/>
          <p:nvPr/>
        </p:nvSpPr>
        <p:spPr>
          <a:xfrm>
            <a:off x="9779507" y="2953512"/>
            <a:ext cx="256032" cy="164592"/>
          </a:xfrm>
          <a:prstGeom prst="rightArrow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Rounded Rectangle 17426"/>
          <p:cNvSpPr/>
          <p:nvPr/>
        </p:nvSpPr>
        <p:spPr>
          <a:xfrm>
            <a:off x="10035540" y="2706624"/>
            <a:ext cx="1627632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0E7490"/>
                </a:solidFill>
                <a:latin typeface="Calibri"/>
              </a:rPr>
              <a:t>6  Act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buNone/>
            </a:pPr>
            <a:r>
              <a:rPr sz="950" b="0" i="0">
                <a:solidFill>
                  <a:srgbClr val="6B7280"/>
                </a:solidFill>
                <a:latin typeface="Calibri"/>
              </a:rPr>
              <a:t>triage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502920" y="3529584"/>
            <a:ext cx="73152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0E7490"/>
                </a:solidFill>
                <a:latin typeface="Calibri"/>
              </a:rPr>
              <a:t>WORKING PROTOTYPE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388619" y="3822191"/>
            <a:ext cx="3584448" cy="1984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30" name="Picture 17429" descr="WhatsApp Image 2026-06-23 at 8.23.19 PM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483" y="3877055"/>
            <a:ext cx="3474720" cy="1858975"/>
          </a:xfrm>
          <a:prstGeom prst="rect">
            <a:avLst/>
          </a:prstGeom>
        </p:spPr>
      </p:pic>
      <p:sp>
        <p:nvSpPr>
          <p:cNvPr id="17431" name="TextBox 17430"/>
          <p:cNvSpPr txBox="1"/>
          <p:nvPr/>
        </p:nvSpPr>
        <p:spPr>
          <a:xfrm>
            <a:off x="388619" y="5843016"/>
            <a:ext cx="3584448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buNone/>
            </a:pPr>
            <a:r>
              <a:rPr sz="1050" b="1" i="0">
                <a:solidFill>
                  <a:srgbClr val="1F2937"/>
                </a:solidFill>
                <a:latin typeface="Calibri"/>
              </a:rPr>
              <a:t>SOC Dashboard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4302252" y="3822191"/>
            <a:ext cx="3584448" cy="1984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33" name="Picture 17432" descr="WhatsApp Image 2026-06-23 at 8.23.19 PM (1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57116" y="3877055"/>
            <a:ext cx="3474720" cy="1752562"/>
          </a:xfrm>
          <a:prstGeom prst="rect">
            <a:avLst/>
          </a:prstGeom>
        </p:spPr>
      </p:pic>
      <p:sp>
        <p:nvSpPr>
          <p:cNvPr id="17434" name="TextBox 17433"/>
          <p:cNvSpPr txBox="1"/>
          <p:nvPr/>
        </p:nvSpPr>
        <p:spPr>
          <a:xfrm>
            <a:off x="4302252" y="5843016"/>
            <a:ext cx="3584448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buNone/>
            </a:pPr>
            <a:r>
              <a:rPr sz="1050" b="1" i="0">
                <a:solidFill>
                  <a:srgbClr val="1F2937"/>
                </a:solidFill>
                <a:latin typeface="Calibri"/>
              </a:rPr>
              <a:t>Threat Logs — scored events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8215883" y="3822191"/>
            <a:ext cx="3584448" cy="1984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36" name="Picture 17435" descr="WhatsApp Image 2026-06-23 at 8.23.19 PM (2).jpe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70748" y="3877055"/>
            <a:ext cx="3474720" cy="1759077"/>
          </a:xfrm>
          <a:prstGeom prst="rect">
            <a:avLst/>
          </a:prstGeom>
        </p:spPr>
      </p:pic>
      <p:sp>
        <p:nvSpPr>
          <p:cNvPr id="17437" name="TextBox 17436"/>
          <p:cNvSpPr txBox="1"/>
          <p:nvPr/>
        </p:nvSpPr>
        <p:spPr>
          <a:xfrm>
            <a:off x="8215883" y="5843016"/>
            <a:ext cx="3584448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buNone/>
            </a:pPr>
            <a:r>
              <a:rPr sz="1050" b="1" i="0">
                <a:solidFill>
                  <a:srgbClr val="1F2937"/>
                </a:solidFill>
                <a:latin typeface="Calibri"/>
              </a:rPr>
              <a:t>Blockchain Monitor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02920" y="868680"/>
            <a:ext cx="8229600" cy="1143000"/>
          </a:xfrm>
        </p:spPr>
        <p:txBody>
          <a:bodyPr wrap="square"/>
          <a:lstStyle/>
          <a:p>
            <a:pPr eaLnBrk="1" hangingPunct="1" algn="l"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>
                <a:solidFill>
                  <a:srgbClr val="0E2233"/>
                </a:solidFill>
                <a:latin typeface="Calibri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938528"/>
            <a:ext cx="5074920" cy="4480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sz="1300" b="1" i="0">
                <a:solidFill>
                  <a:srgbClr val="0E7490"/>
                </a:solidFill>
                <a:latin typeface="Calibri"/>
              </a:rPr>
              <a:t>FEASIBLE TODAY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Calibri"/>
              </a:rPr>
              <a:t>•  Already built &amp; demoable — live dashboard, real-time engine, attack-on-cue, plain-English explanations, 63 passing tests.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Calibri"/>
              </a:rPr>
              <a:t>•  Lean 2-service architecture (React ↔ FastAPI) — runs on a single laptop, no cloud dependency in the demo.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Calibri"/>
              </a:rPr>
              <a:t>•  Built entirely on proven, free open-source components — no exotic or costly infrastructure.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DF00B13-7184-6E23-3D82-8AEEB33D9A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37600" y="350906"/>
            <a:ext cx="3114121" cy="46291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C8558D-8D67-3E9F-F008-9D2098E4DE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5860" y="136523"/>
            <a:ext cx="3852441" cy="7715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86AF68-E6C7-5A61-78D6-68C582DC9B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6451" y="36752"/>
            <a:ext cx="3985549" cy="8755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ABFBA4-03D6-CF50-D2CB-60612AB79E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4241" y="-234"/>
            <a:ext cx="4937759" cy="1081711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5897880" y="1938528"/>
            <a:ext cx="5806440" cy="416052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6080760" y="2066543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300" b="1" i="0">
                <a:solidFill>
                  <a:srgbClr val="0E2233"/>
                </a:solidFill>
                <a:latin typeface="Calibri"/>
              </a:rPr>
              <a:t>RISK  →  MITIGATION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6080760" y="2505456"/>
            <a:ext cx="5486400" cy="6766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150" b="1" i="0">
                <a:solidFill>
                  <a:srgbClr val="DC2626"/>
                </a:solidFill>
                <a:latin typeface="Calibri"/>
              </a:rPr>
              <a:t>Live demo on bad wifi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50" b="0" i="0">
                <a:solidFill>
                  <a:srgbClr val="1F2937"/>
                </a:solidFill>
                <a:latin typeface="Calibri"/>
              </a:rPr>
              <a:t>Gemini cached + template fallback; binds localhost — fully offline-safe.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6080760" y="3209544"/>
            <a:ext cx="5486400" cy="6766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150" b="1" i="0">
                <a:solidFill>
                  <a:srgbClr val="DC2626"/>
                </a:solidFill>
                <a:latin typeface="Calibri"/>
              </a:rPr>
              <a:t>ML cold-start (needs history)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50" b="0" i="0">
                <a:solidFill>
                  <a:srgbClr val="1F2937"/>
                </a:solidFill>
                <a:latin typeface="Calibri"/>
              </a:rPr>
              <a:t>Warm-up seeding builds baselines; fast statistical layer carries the live spike.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6080760" y="3913632"/>
            <a:ext cx="5486400" cy="6766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150" b="1" i="0">
                <a:solidFill>
                  <a:srgbClr val="DC2626"/>
                </a:solidFill>
                <a:latin typeface="Calibri"/>
              </a:rPr>
              <a:t>False positives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50" b="0" i="0">
                <a:solidFill>
                  <a:srgbClr val="1F2937"/>
                </a:solidFill>
                <a:latin typeface="Calibri"/>
              </a:rPr>
              <a:t>Per-entity baselines + 2-layer fusion; never learns from confirmed anomalies.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6080760" y="4617720"/>
            <a:ext cx="5486400" cy="6766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150" b="1" i="0">
                <a:solidFill>
                  <a:srgbClr val="DC2626"/>
                </a:solidFill>
                <a:latin typeface="Calibri"/>
              </a:rPr>
              <a:t>Scaling to real volume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50" b="0" i="0">
                <a:solidFill>
                  <a:srgbClr val="1F2937"/>
                </a:solidFill>
                <a:latin typeface="Calibri"/>
              </a:rPr>
              <a:t>Stateless engine shards per entity; in-memory store is swappable.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6080760" y="5321808"/>
            <a:ext cx="5486400" cy="6766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150" b="1" i="0">
                <a:solidFill>
                  <a:srgbClr val="DC2626"/>
                </a:solidFill>
                <a:latin typeface="Calibri"/>
              </a:rPr>
              <a:t>Securing the product itself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50" b="0" i="0">
                <a:solidFill>
                  <a:srgbClr val="1F2937"/>
                </a:solidFill>
                <a:latin typeface="Calibri"/>
              </a:rPr>
              <a:t>OWASP self-audit (SECURITY.md): no critical or high findings.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02920" y="868680"/>
            <a:ext cx="8229600" cy="1143000"/>
          </a:xfrm>
        </p:spPr>
        <p:txBody>
          <a:bodyPr wrap="square"/>
          <a:lstStyle/>
          <a:p>
            <a:pPr eaLnBrk="1" hangingPunct="1" algn="l"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>
                <a:solidFill>
                  <a:srgbClr val="0E2233"/>
                </a:solidFill>
                <a:latin typeface="Calibri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874519"/>
            <a:ext cx="11155680" cy="502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sz="1250" b="1" i="0">
                <a:solidFill>
                  <a:srgbClr val="0E2233"/>
                </a:solidFill>
                <a:latin typeface="Calibri"/>
              </a:rPr>
              <a:t>Target audience:  </a:t>
            </a:r>
            <a:r>
              <a:rPr sz="1250" b="0" i="0">
                <a:solidFill>
                  <a:srgbClr val="1F2937"/>
                </a:solidFill>
                <a:latin typeface="Calibri"/>
              </a:rPr>
              <a:t>banks &amp; fintechs · SOC / security teams · crypto exchanges &amp; wallets · any org with high-volume activity streams.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EC10E74-6A4D-C182-6A00-713CC11407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37600" y="350906"/>
            <a:ext cx="3114121" cy="462910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16A619-C73E-0C6C-F3D0-1D6EC6FF43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1030" y="265472"/>
            <a:ext cx="3668782" cy="7347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81D933-5D05-8531-E4CD-D42C6BFF6A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6451" y="124746"/>
            <a:ext cx="3985549" cy="8755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68CDB4F-77C5-2BDF-35DC-E4123B79D1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4241" y="-234"/>
            <a:ext cx="4937759" cy="1081711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388619" y="2468880"/>
            <a:ext cx="3584448" cy="1234440"/>
          </a:xfrm>
          <a:prstGeom prst="roundRect">
            <a:avLst>
              <a:gd name="adj" fmla="val 10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388619" y="2468880"/>
            <a:ext cx="3584448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sz="3400" b="1" i="0">
                <a:solidFill>
                  <a:srgbClr val="0E7490"/>
                </a:solidFill>
                <a:latin typeface="Calibri"/>
              </a:rPr>
              <a:t>~1–2s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00" b="0" i="0">
                <a:solidFill>
                  <a:srgbClr val="1F2937"/>
                </a:solidFill>
                <a:latin typeface="Calibri"/>
              </a:rPr>
              <a:t>from attack to flagged, scored &amp; explained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302252" y="2468880"/>
            <a:ext cx="3584448" cy="1234440"/>
          </a:xfrm>
          <a:prstGeom prst="roundRect">
            <a:avLst>
              <a:gd name="adj" fmla="val 10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4302252" y="2468880"/>
            <a:ext cx="3584448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sz="3400" b="1" i="0">
                <a:solidFill>
                  <a:srgbClr val="0E7490"/>
                </a:solidFill>
                <a:latin typeface="Calibri"/>
              </a:rPr>
              <a:t>1 adapter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00" b="0" i="0">
                <a:solidFill>
                  <a:srgbClr val="1F2937"/>
                </a:solidFill>
                <a:latin typeface="Calibri"/>
              </a:rPr>
              <a:t>to onboard a brand-new data source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8215883" y="2468880"/>
            <a:ext cx="3584448" cy="1234440"/>
          </a:xfrm>
          <a:prstGeom prst="roundRect">
            <a:avLst>
              <a:gd name="adj" fmla="val 10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8215883" y="2468880"/>
            <a:ext cx="3584448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sz="3400" b="1" i="0">
                <a:solidFill>
                  <a:srgbClr val="0E7490"/>
                </a:solidFill>
                <a:latin typeface="Calibri"/>
              </a:rPr>
              <a:t>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00" b="0" i="0">
                <a:solidFill>
                  <a:srgbClr val="1F2937"/>
                </a:solidFill>
                <a:latin typeface="Calibri"/>
              </a:rPr>
              <a:t>critical / high security findings (OWASP audit)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502920" y="3931920"/>
            <a:ext cx="1115568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300" b="1" i="0">
                <a:solidFill>
                  <a:srgbClr val="0E7490"/>
                </a:solidFill>
                <a:latin typeface="Calibri"/>
              </a:rPr>
              <a:t>BENEFITS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502920" y="4279392"/>
            <a:ext cx="1115568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0E2233"/>
                </a:solidFill>
                <a:latin typeface="Calibri"/>
              </a:rPr>
              <a:t>Economic — </a:t>
            </a:r>
            <a:r>
              <a:rPr sz="1150" b="0" i="0">
                <a:solidFill>
                  <a:srgbClr val="1F2937"/>
                </a:solidFill>
                <a:latin typeface="Calibri"/>
              </a:rPr>
              <a:t>Cuts fraud losses, chargebacks &amp; breach-remediation cost; fewer analyst-hours per alert; one platform replaces several point tools.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502920" y="4782312"/>
            <a:ext cx="1115568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0E2233"/>
                </a:solidFill>
                <a:latin typeface="Calibri"/>
              </a:rPr>
              <a:t>Social / trust — </a:t>
            </a:r>
            <a:r>
              <a:rPr sz="1150" b="0" i="0">
                <a:solidFill>
                  <a:srgbClr val="1F2937"/>
                </a:solidFill>
                <a:latin typeface="Calibri"/>
              </a:rPr>
              <a:t>Protects customers' money and data; faster response means less harm; supports safer digital finance.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502920" y="5285231"/>
            <a:ext cx="1115568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0E2233"/>
                </a:solidFill>
                <a:latin typeface="Calibri"/>
              </a:rPr>
              <a:t>Operational — </a:t>
            </a:r>
            <a:r>
              <a:rPr sz="1150" b="0" i="0">
                <a:solidFill>
                  <a:srgbClr val="1F2937"/>
                </a:solidFill>
                <a:latin typeface="Calibri"/>
              </a:rPr>
              <a:t>One engine for all sources = lower integration &amp; maintenance cost; new source onboarded with a single adapter.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502920" y="5788151"/>
            <a:ext cx="1115568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0E2233"/>
                </a:solidFill>
                <a:latin typeface="Calibri"/>
              </a:rPr>
              <a:t>Efficiency — </a:t>
            </a:r>
            <a:r>
              <a:rPr sz="1150" b="0" i="0">
                <a:solidFill>
                  <a:srgbClr val="1F2937"/>
                </a:solidFill>
                <a:latin typeface="Calibri"/>
              </a:rPr>
              <a:t>Lean architecture with an in-memory hot path = low compute footprint vs. heavy traditional SIEM stacks.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02920" y="868680"/>
            <a:ext cx="8229600" cy="1029752"/>
          </a:xfrm>
        </p:spPr>
        <p:txBody>
          <a:bodyPr wrap="square"/>
          <a:lstStyle/>
          <a:p>
            <a:pPr eaLnBrk="1" hangingPunct="1" algn="l"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>
                <a:solidFill>
                  <a:srgbClr val="0E2233"/>
                </a:solidFill>
                <a:latin typeface="Calibri"/>
              </a:rP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920240"/>
            <a:ext cx="11155680" cy="4206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sz="1200" b="1" i="0">
                <a:solidFill>
                  <a:srgbClr val="0E7490"/>
                </a:solidFill>
                <a:latin typeface="Calibri"/>
              </a:rPr>
              <a:t>•  Isolation Forest — 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Liu, Ting &amp; Zhou — “Isolation Forest,” IEEE ICDM 2008 (core anomaly-detection algorithm).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200" b="1" i="0">
                <a:solidFill>
                  <a:srgbClr val="0E7490"/>
                </a:solidFill>
                <a:latin typeface="Calibri"/>
              </a:rPr>
              <a:t>•  scikit-learn — 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IsolationForest &amp; outlier-detection documentation — scikit-learn.org.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200" b="1" i="0">
                <a:solidFill>
                  <a:srgbClr val="0E7490"/>
                </a:solidFill>
                <a:latin typeface="Calibri"/>
              </a:rPr>
              <a:t>•  UEBA — 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User &amp; Entity Behavior Analytics — per-entity behavioral baselining (industry concept).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200" b="1" i="0">
                <a:solidFill>
                  <a:srgbClr val="0E7490"/>
                </a:solidFill>
                <a:latin typeface="Calibri"/>
              </a:rPr>
              <a:t>•  OWASP Top 10 (2021) — 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Framework used for our security self-audit — owasp.org/Top10.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200" b="1" i="0">
                <a:solidFill>
                  <a:srgbClr val="0E7490"/>
                </a:solidFill>
                <a:latin typeface="Calibri"/>
              </a:rPr>
              <a:t>•  Core stack docs — 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FastAPI · React · Recharts · Tailwind CSS — official documentation.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200" b="1" i="0">
                <a:solidFill>
                  <a:srgbClr val="0E7490"/>
                </a:solidFill>
                <a:latin typeface="Calibri"/>
              </a:rPr>
              <a:t>•  Google Gemini API — 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ai.google.dev — explanation layer.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200" b="1" i="0">
                <a:solidFill>
                  <a:srgbClr val="0E7490"/>
                </a:solidFill>
                <a:latin typeface="Calibri"/>
              </a:rPr>
              <a:t>•  Etherscan / Alchemy APIs — 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blockchain wallet-activity module (optional).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200" b="1" i="0">
                <a:solidFill>
                  <a:srgbClr val="0E7490"/>
                </a:solidFill>
                <a:latin typeface="Calibri"/>
              </a:rPr>
              <a:t>•  Validation roadmap — 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Public fraud datasets (IEEE-CIS / credit-card fraud, Kaggle) for benchmarking.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23B0F35-F242-223B-4CC1-9E972757D7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37600" y="350906"/>
            <a:ext cx="3114121" cy="462910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8BDB3C-E811-36EA-D186-A8A89776A7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370" y="136523"/>
            <a:ext cx="3852441" cy="7715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3836ED-A75B-5F9D-62E2-B8221DDB9A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2831" y="36752"/>
            <a:ext cx="4159170" cy="9136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82B17F-F4DE-7E11-8F80-9A55F01B90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4241" y="-234"/>
            <a:ext cx="4937759" cy="1081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4651" y="534773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POINTERS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E9FA8A7-426A-4B79-212D-481F791D2A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37600" y="350906"/>
            <a:ext cx="3114121" cy="462910"/>
          </a:xfrm>
          <a:prstGeom prst="rect">
            <a:avLst/>
          </a:prstGeom>
        </p:spPr>
      </p:pic>
      <p:sp>
        <p:nvSpPr>
          <p:cNvPr id="11" name="Google Shape;100;p3"/>
          <p:cNvSpPr txBox="1"/>
          <p:nvPr/>
        </p:nvSpPr>
        <p:spPr>
          <a:xfrm>
            <a:off x="679010" y="2064190"/>
            <a:ext cx="11172711" cy="4292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adhere to the following guidelines while preparing your presentation: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Limit your presentation to a maximum of six (6) slides, including the title slide. The file size must not exceed 5 MB.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The idea presented should be original and innovative.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Ensure the content is clear, concise, and easy to understand.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Use bullet points, diagrams, </a:t>
            </a:r>
            <a:r>
              <a:rPr lang="en-US" b="1" dirty="0" err="1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infographics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, or images to present your ideas; avoid lengthy paragraphs.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Prepare your presentation strictly using the provided template.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Save and upload the final submission in PDF format only.</a:t>
            </a: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lv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rgbClr val="66CCFF"/>
                </a:solidFill>
              </a:rPr>
              <a:t>Note: This slide (“Important Pointers”) should be removed before uploading the Idea PPT on the portal .</a:t>
            </a:r>
            <a:r>
              <a:rPr lang="en-US" dirty="0">
                <a:solidFill>
                  <a:srgbClr val="66CCFF"/>
                </a:solidFill>
              </a:rPr>
              <a:t>.</a:t>
            </a:r>
            <a:endParaRPr sz="2000" b="1" i="0" u="none" strike="noStrike" cap="none" dirty="0">
              <a:solidFill>
                <a:srgbClr val="66CCFF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5EFBA1-3F69-AFE6-C1C4-5E11C42079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0304" y="169649"/>
            <a:ext cx="3687046" cy="7384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733E84-617B-B528-E1EB-8064C5E815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6451" y="36752"/>
            <a:ext cx="3985549" cy="8755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F57AA7-DE54-4D1A-465D-AE187A560E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4241" y="-234"/>
            <a:ext cx="4937759" cy="1081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7966</TotalTime>
  <Words>282</Words>
  <Application>Microsoft Office PowerPoint</Application>
  <PresentationFormat>Widescreen</PresentationFormat>
  <Paragraphs>48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ＭＳ Ｐゴシック</vt:lpstr>
      <vt:lpstr>Arial</vt:lpstr>
      <vt:lpstr>Calibri</vt:lpstr>
      <vt:lpstr>Times New Roman</vt:lpstr>
      <vt:lpstr>TradeGothic</vt:lpstr>
      <vt:lpstr>Office Theme</vt:lpstr>
      <vt:lpstr>PowerPoint Presentation</vt:lpstr>
      <vt:lpstr> IDEA TITLE</vt:lpstr>
      <vt:lpstr>SOLUTION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Aman Bhargava</cp:lastModifiedBy>
  <cp:revision>164</cp:revision>
  <cp:lastPrinted>2026-03-25T11:02:59Z</cp:lastPrinted>
  <dcterms:created xsi:type="dcterms:W3CDTF">2013-12-12T18:46:50Z</dcterms:created>
  <dcterms:modified xsi:type="dcterms:W3CDTF">2026-05-22T13:11:31Z</dcterms:modified>
  <cp:category/>
</cp:coreProperties>
</file>